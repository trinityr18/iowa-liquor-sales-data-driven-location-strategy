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ucha\Desktop\top_10_location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ucha\Desktop\top_10_locations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 (Dollars)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Hy-Vee, Des Moines</c:v>
                </c:pt>
                <c:pt idx="1">
                  <c:v>Central City 2, Des Moines</c:v>
                </c:pt>
                <c:pt idx="2">
                  <c:v>Hy-Vee Wine and Spirits, Iowa City</c:v>
                </c:pt>
                <c:pt idx="3">
                  <c:v>Lot-A-Spirits, Bettendorf </c:v>
                </c:pt>
                <c:pt idx="4">
                  <c:v>Benz Distributing, Cedar Rapids</c:v>
                </c:pt>
                <c:pt idx="5">
                  <c:v>Hy-Vee Wine and Spirits, Davenport</c:v>
                </c:pt>
                <c:pt idx="6">
                  <c:v>Hy-Vee Food and Drug , Clinton</c:v>
                </c:pt>
                <c:pt idx="7">
                  <c:v>Hy-Vee Food Store,  Council Bluff</c:v>
                </c:pt>
                <c:pt idx="8">
                  <c:v>Hy-Vee Wine and Spirits, Ankeny</c:v>
                </c:pt>
                <c:pt idx="9">
                  <c:v>Hy-Vee Wine and Spirits, Fort Dodge </c:v>
                </c:pt>
              </c:strCache>
            </c:strRef>
          </c:cat>
          <c:val>
            <c:numRef>
              <c:f>Sheet1!$B$2:$B$11</c:f>
              <c:numCache>
                <c:formatCode>[$$-409]#,##0.00</c:formatCode>
                <c:ptCount val="10"/>
                <c:pt idx="0">
                  <c:v>20625286.219999999</c:v>
                </c:pt>
                <c:pt idx="1">
                  <c:v>19126106.920000002</c:v>
                </c:pt>
                <c:pt idx="2">
                  <c:v>13322786.4</c:v>
                </c:pt>
                <c:pt idx="3">
                  <c:v>10638072.17</c:v>
                </c:pt>
                <c:pt idx="4">
                  <c:v>9899249.6099999994</c:v>
                </c:pt>
                <c:pt idx="5">
                  <c:v>7493665.0899999999</c:v>
                </c:pt>
                <c:pt idx="6">
                  <c:v>7254048.2999999998</c:v>
                </c:pt>
                <c:pt idx="7">
                  <c:v>6828561.2199999997</c:v>
                </c:pt>
                <c:pt idx="8">
                  <c:v>5037015.84</c:v>
                </c:pt>
                <c:pt idx="9">
                  <c:v>4832550.09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96-48DC-B3AB-95D8CBD14D7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1135800767"/>
        <c:axId val="1135804127"/>
      </c:barChart>
      <c:catAx>
        <c:axId val="11358007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5804127"/>
        <c:crosses val="autoZero"/>
        <c:auto val="1"/>
        <c:lblAlgn val="ctr"/>
        <c:lblOffset val="100"/>
        <c:noMultiLvlLbl val="0"/>
      </c:catAx>
      <c:valAx>
        <c:axId val="113580412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\$#,##0,,\ 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5800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Sale (Dollars)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Sheet3!$A$2:$A$6</c:f>
              <c:strCache>
                <c:ptCount val="5"/>
                <c:pt idx="0">
                  <c:v>Canadian Whiskies</c:v>
                </c:pt>
                <c:pt idx="1">
                  <c:v>Vodka 80 Proof</c:v>
                </c:pt>
                <c:pt idx="2">
                  <c:v>Spiced Rum</c:v>
                </c:pt>
                <c:pt idx="3">
                  <c:v>Straight Bourbon Whiskies</c:v>
                </c:pt>
                <c:pt idx="4">
                  <c:v>Imported Vodka</c:v>
                </c:pt>
              </c:strCache>
            </c:strRef>
          </c:cat>
          <c:val>
            <c:numRef>
              <c:f>Sheet3!$B$2:$B$6</c:f>
              <c:numCache>
                <c:formatCode>[$$-409]#,##0</c:formatCode>
                <c:ptCount val="5"/>
                <c:pt idx="0">
                  <c:v>122000000</c:v>
                </c:pt>
                <c:pt idx="1">
                  <c:v>108000000</c:v>
                </c:pt>
                <c:pt idx="2">
                  <c:v>78700000</c:v>
                </c:pt>
                <c:pt idx="3">
                  <c:v>69400000</c:v>
                </c:pt>
                <c:pt idx="4">
                  <c:v>65200000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A9-4005-B402-0C18344438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85054623"/>
        <c:axId val="1285055103"/>
      </c:barChart>
      <c:catAx>
        <c:axId val="12850546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055103"/>
        <c:crosses val="autoZero"/>
        <c:auto val="1"/>
        <c:lblAlgn val="ctr"/>
        <c:lblOffset val="100"/>
        <c:noMultiLvlLbl val="0"/>
      </c:catAx>
      <c:valAx>
        <c:axId val="128505510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Sales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\$#,##0.0,,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5054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ysClr val="windowText" lastClr="000000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94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64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958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44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10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080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4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6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64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752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5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B4277AC-8A96-4E30-947B-C23A02998074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D6AFFFC0-FBD8-4D6A-B77A-1F7ECD87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777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A0B96-54D1-A4BD-0F2D-85567CE24A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14" y="156090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0" i="0" dirty="0">
                <a:effectLst/>
                <a:latin typeface="+mn-lt"/>
              </a:rPr>
              <a:t>Top 10 Recommended Locations for </a:t>
            </a:r>
            <a:br>
              <a:rPr lang="en-US" sz="4000" b="0" i="0" dirty="0">
                <a:effectLst/>
                <a:latin typeface="+mn-lt"/>
              </a:rPr>
            </a:br>
            <a:r>
              <a:rPr lang="en-US" sz="4000" b="0" i="0" dirty="0">
                <a:effectLst/>
                <a:latin typeface="+mn-lt"/>
              </a:rPr>
              <a:t>Launching Iowa Spirits Online Delivery</a:t>
            </a:r>
            <a:endParaRPr lang="en-IN" sz="4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021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58AC-2C5E-1130-F9DD-E1028713F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0" i="0" dirty="0">
                <a:effectLst/>
                <a:latin typeface="+mn-lt"/>
              </a:rPr>
              <a:t>The Opportunity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B8463-4FF5-CE0B-6EBD-6DFE35C79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070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1800" b="0" i="0" dirty="0">
                <a:effectLst/>
              </a:rPr>
              <a:t>Online alcohol delivery market: $15 billion in 2025, projected to reach $50 billion by 2033 (CAGR 15%)</a:t>
            </a:r>
          </a:p>
          <a:p>
            <a:endParaRPr lang="en-US" sz="1800" b="0" i="0" dirty="0">
              <a:effectLst/>
            </a:endParaRPr>
          </a:p>
          <a:p>
            <a:r>
              <a:rPr lang="en-US" sz="1800" dirty="0"/>
              <a:t>Dataset: T</a:t>
            </a:r>
            <a:r>
              <a:rPr lang="en-US" sz="1800" b="0" dirty="0">
                <a:effectLst/>
              </a:rPr>
              <a:t>he Iowa Liquor Sales dataset reflects wholesale transactions, not direct consumer sales. The transactions are from the Iowa Alcoholic Beverages Division (a government-controlled distributor) to retail stores, bars, or restaurants.</a:t>
            </a:r>
            <a:endParaRPr lang="en-IN" sz="1800" b="0" dirty="0">
              <a:effectLst/>
            </a:endParaRPr>
          </a:p>
          <a:p>
            <a:endParaRPr lang="en-US" sz="1800" b="0" i="0" dirty="0">
              <a:effectLst/>
            </a:endParaRPr>
          </a:p>
          <a:p>
            <a:r>
              <a:rPr lang="en-IN" sz="1800" dirty="0"/>
              <a:t>For the year 2012-2017: </a:t>
            </a:r>
          </a:p>
          <a:p>
            <a:pPr marL="0" indent="0">
              <a:buNone/>
            </a:pPr>
            <a:r>
              <a:rPr lang="en-IN" sz="1800" dirty="0"/>
              <a:t>    Total sales: 1.17B</a:t>
            </a:r>
          </a:p>
          <a:p>
            <a:pPr marL="0" indent="0">
              <a:buNone/>
            </a:pPr>
            <a:r>
              <a:rPr lang="en-IN" sz="1800" dirty="0"/>
              <a:t>    Total volume sold: 72.84M</a:t>
            </a:r>
          </a:p>
          <a:p>
            <a:pPr marL="0" indent="0">
              <a:buNone/>
            </a:pPr>
            <a:r>
              <a:rPr lang="en-IN" sz="1800" dirty="0"/>
              <a:t>    No. of transactions: 12.26M</a:t>
            </a:r>
          </a:p>
          <a:p>
            <a:pPr marL="0" indent="0">
              <a:buNone/>
            </a:pPr>
            <a:r>
              <a:rPr lang="en-US" sz="1800" dirty="0"/>
              <a:t>    Number of stores: 1884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0" i="1" dirty="0">
                <a:effectLst/>
              </a:rPr>
              <a:t>Business Question: “What are the top 10 recommended locations for online alcohol delivery — either from an existing store or a new delivery </a:t>
            </a:r>
            <a:r>
              <a:rPr lang="en-US" sz="1800" b="0" i="1" dirty="0" err="1">
                <a:effectLst/>
              </a:rPr>
              <a:t>centre</a:t>
            </a:r>
            <a:r>
              <a:rPr lang="en-US" sz="1800" b="0" i="1" dirty="0">
                <a:effectLst/>
              </a:rPr>
              <a:t>?”</a:t>
            </a:r>
            <a:endParaRPr lang="en-US" sz="18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C705A-B2A0-F68A-B881-16CF1D3918C7}"/>
              </a:ext>
            </a:extLst>
          </p:cNvPr>
          <p:cNvSpPr txBox="1"/>
          <p:nvPr/>
        </p:nvSpPr>
        <p:spPr>
          <a:xfrm>
            <a:off x="0" y="6642556"/>
            <a:ext cx="77094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https://www.datainsightsmarket.com/reports/online-alcohol-delivery-1435770</a:t>
            </a:r>
          </a:p>
        </p:txBody>
      </p:sp>
    </p:spTree>
    <p:extLst>
      <p:ext uri="{BB962C8B-B14F-4D97-AF65-F5344CB8AC3E}">
        <p14:creationId xmlns:p14="http://schemas.microsoft.com/office/powerpoint/2010/main" val="2774418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8092-171A-723A-9AA7-675FAD17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0" i="0" dirty="0">
                <a:effectLst/>
                <a:latin typeface="+mn-lt"/>
              </a:rPr>
              <a:t>The Approach &amp; Assumptions</a:t>
            </a:r>
            <a:br>
              <a:rPr lang="en-IN" sz="3200" b="0" i="0" dirty="0">
                <a:effectLst/>
                <a:latin typeface="+mn-lt"/>
              </a:rPr>
            </a:br>
            <a:endParaRPr lang="en-IN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530F6-E2D4-BCEC-A7D3-4F770F9C4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Data-Driven Approach: Used sales, volume, and transaction data to cluster stores and identify high-potential areas for online delivery.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Top Location Recommendations: Pinpointed the top 10 locations for new delivery hubs or expanding online delivery, based on business performance and customer reach.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Product Insights: Highlighted best-selling and high-margin product categories for targeted inventory planning.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0" indent="0" algn="l">
              <a:buNone/>
            </a:pPr>
            <a:r>
              <a:rPr lang="en-US" sz="2000" b="0" i="0" dirty="0">
                <a:effectLst/>
              </a:rPr>
              <a:t>Assumptions: 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Excluded extreme outliers using the 99th percentile for key metrics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Focused on standard bottle sizes (≤ 1,750 ml)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Removed bulk shipments (orders &gt; 60 bottles or &gt; 54 liters)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Limited analysis to realistic retail prices (≤ $46.50) and costs (≤ $31.00)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Set cluster size to 10 to identify top 10 locations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</a:rPr>
              <a:t>Ensured results reflect typical store sales, not rare or unusual transactions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774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8092-171A-723A-9AA7-675FAD17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0" i="0" dirty="0">
                <a:effectLst/>
                <a:latin typeface="+mn-lt"/>
              </a:rPr>
              <a:t>High-Performing Clusters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7FDEE-7C49-71EE-8F1B-C7A143D4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807" y="1764600"/>
            <a:ext cx="6173182" cy="3954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BF1A85-E19F-04A7-6AAD-BD0D37D9A5E0}"/>
              </a:ext>
            </a:extLst>
          </p:cNvPr>
          <p:cNvSpPr txBox="1"/>
          <p:nvPr/>
        </p:nvSpPr>
        <p:spPr>
          <a:xfrm>
            <a:off x="662474" y="2025854"/>
            <a:ext cx="4544008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Most stores were clustered together around the cities of Cedar Rapids, Iowa City, and Des Moines.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H</a:t>
            </a:r>
            <a:r>
              <a:rPr lang="en-US" sz="1700" b="0" i="0" dirty="0">
                <a:effectLst/>
              </a:rPr>
              <a:t>igh density of liquor stores and high volume and transaction count, consistently lead in spirits sales across the state.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This concentration reflects strong consumer demand, making them strategic locations for delivery hubs or expansion of online delivery services.</a:t>
            </a:r>
            <a:endParaRPr lang="en-US" sz="17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09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8092-171A-723A-9AA7-675FAD17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539" y="699313"/>
            <a:ext cx="11207620" cy="1445014"/>
          </a:xfrm>
        </p:spPr>
        <p:txBody>
          <a:bodyPr>
            <a:normAutofit fontScale="90000"/>
          </a:bodyPr>
          <a:lstStyle/>
          <a:p>
            <a:r>
              <a:rPr lang="en-IN" sz="2000" b="0" i="0" dirty="0">
                <a:effectLst/>
                <a:latin typeface="fkGrotesk"/>
              </a:rPr>
              <a:t> </a:t>
            </a:r>
            <a:r>
              <a:rPr lang="en-IN" sz="3600" b="0" i="0" dirty="0">
                <a:effectLst/>
                <a:latin typeface="+mn-lt"/>
              </a:rPr>
              <a:t>T</a:t>
            </a:r>
            <a:r>
              <a:rPr lang="en-US" sz="3600" b="0" i="0" dirty="0">
                <a:effectLst/>
                <a:latin typeface="+mn-lt"/>
              </a:rPr>
              <a:t>op 10 recommended locations for </a:t>
            </a:r>
            <a:r>
              <a:rPr lang="en-IE" sz="3600" kern="100" dirty="0">
                <a:effectLst/>
                <a:latin typeface="+mn-lt"/>
                <a:ea typeface="Yu Gothic" panose="020B0400000000000000" pitchFamily="34" charset="-128"/>
                <a:cs typeface="Arial" panose="020B0604020202020204" pitchFamily="34" charset="0"/>
              </a:rPr>
              <a:t>Setting up out of an existing    store for </a:t>
            </a:r>
            <a:r>
              <a:rPr lang="en-IE" sz="3600" dirty="0">
                <a:effectLst/>
                <a:latin typeface="+mn-lt"/>
                <a:ea typeface="Yu Gothic" panose="020B0400000000000000" pitchFamily="34" charset="-128"/>
                <a:cs typeface="Arial" panose="020B0604020202020204" pitchFamily="34" charset="0"/>
              </a:rPr>
              <a:t>online delivery business</a:t>
            </a:r>
            <a:br>
              <a:rPr lang="en-IN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</a:b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F1A85-E19F-04A7-6AAD-BD0D37D9A5E0}"/>
              </a:ext>
            </a:extLst>
          </p:cNvPr>
          <p:cNvSpPr txBox="1"/>
          <p:nvPr/>
        </p:nvSpPr>
        <p:spPr>
          <a:xfrm>
            <a:off x="1082351" y="3985689"/>
            <a:ext cx="104502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Hy-Vee in Des Moines leads with $20.6M in sales and over 101,000 transactions, followed closely by Central City 2 in Des Moines ($19.1M) and Hy-Vee Wine &amp; Spirits in Iowa City ($13.3M).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Highest sales and transaction volumes cluster around Des Moines, Iowa City, Cedar Rapids, and Bettendorf, indicating strong consumer demand in these metro areas.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Stores with highest sales also show robust transaction counts, signaling consistent customer footfall and repeat business.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Most top stores rank #1 or #2 within their clusters, confirming their dominant market positions.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3B85746-D656-2188-5CA1-DB4A874B67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469003"/>
              </p:ext>
            </p:extLst>
          </p:nvPr>
        </p:nvGraphicFramePr>
        <p:xfrm>
          <a:off x="2567940" y="1244538"/>
          <a:ext cx="7056120" cy="285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209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8092-171A-723A-9AA7-675FAD17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53" y="806158"/>
            <a:ext cx="5257800" cy="1137104"/>
          </a:xfrm>
        </p:spPr>
        <p:txBody>
          <a:bodyPr>
            <a:normAutofit fontScale="90000"/>
          </a:bodyPr>
          <a:lstStyle/>
          <a:p>
            <a:r>
              <a:rPr lang="en-IN" sz="2000" b="0" i="0" dirty="0">
                <a:effectLst/>
                <a:latin typeface="+mn-lt"/>
              </a:rPr>
              <a:t> Top 5 </a:t>
            </a:r>
            <a:r>
              <a:rPr lang="en-US" sz="2000" b="0" i="0" dirty="0">
                <a:effectLst/>
                <a:latin typeface="+mn-lt"/>
              </a:rPr>
              <a:t>Liquor Sales in Iowa</a:t>
            </a:r>
            <a:br>
              <a:rPr lang="en-IN" sz="1800" kern="100" dirty="0">
                <a:effectLst/>
                <a:latin typeface="Aptos" panose="020B00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</a:b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EE734FD-61CE-4050-FBD3-09034F6752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55339190"/>
              </p:ext>
            </p:extLst>
          </p:nvPr>
        </p:nvGraphicFramePr>
        <p:xfrm>
          <a:off x="838200" y="1374710"/>
          <a:ext cx="481148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BF1A85-E19F-04A7-6AAD-BD0D37D9A5E0}"/>
              </a:ext>
            </a:extLst>
          </p:cNvPr>
          <p:cNvSpPr txBox="1"/>
          <p:nvPr/>
        </p:nvSpPr>
        <p:spPr>
          <a:xfrm>
            <a:off x="6566419" y="1701282"/>
            <a:ext cx="514738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Hy-Vee Wine and Spirits, Ankeny                                         Vodka 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Whiskies Hy-Vee Food and Drug, Clinton          Canadian Whiskies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Hy-Vee Wine and Spirits, Fort Dodge                 Canadian Whiskies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Hy-Vee, Des Moines                                                    Imported Vodka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Benz Distributing, Cedar Rapids                               Imported Vodka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Lot-A-Spirits, Bettendorf                                            Imported Vodka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Central City 2, Des Moines                                        Imported Vodka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Hy-Vee Wine and Spirits #2                                                       Tequila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Hy-Vee Food Store, Council Bluff                                              Tequila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i="0" dirty="0">
                <a:effectLst/>
                <a:latin typeface="fkGroteskNeue"/>
              </a:rPr>
              <a:t>Proof Hy-Vee Wine and Spirits, Iowa City             Straight Bourbon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4D7CF98-52F9-304D-541C-182C1D32C8D1}"/>
              </a:ext>
            </a:extLst>
          </p:cNvPr>
          <p:cNvSpPr txBox="1">
            <a:spLocks/>
          </p:cNvSpPr>
          <p:nvPr/>
        </p:nvSpPr>
        <p:spPr>
          <a:xfrm>
            <a:off x="6566419" y="652203"/>
            <a:ext cx="5257800" cy="14450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n-lt"/>
              </a:rPr>
              <a:t> </a:t>
            </a:r>
            <a:r>
              <a:rPr lang="en-US" sz="18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n-lt"/>
              </a:rPr>
              <a:t>POPULAR selling Liquor in Iowa</a:t>
            </a:r>
            <a:br>
              <a:rPr lang="en-IN" sz="1800" kern="100" dirty="0">
                <a:latin typeface="Aptos" panose="020B0004020202020204" pitchFamily="34" charset="0"/>
                <a:ea typeface="Yu Gothic" panose="020B0400000000000000" pitchFamily="34" charset="-128"/>
                <a:cs typeface="Arial" panose="020B0604020202020204" pitchFamily="34" charset="0"/>
              </a:rPr>
            </a:br>
            <a:br>
              <a:rPr lang="en-IN" dirty="0">
                <a:latin typeface="fkGrotesk"/>
              </a:rPr>
            </a:b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4FC223-76EE-7139-BDD1-D9538261D378}"/>
              </a:ext>
            </a:extLst>
          </p:cNvPr>
          <p:cNvSpPr txBox="1"/>
          <p:nvPr/>
        </p:nvSpPr>
        <p:spPr>
          <a:xfrm>
            <a:off x="742080" y="4500360"/>
            <a:ext cx="11473077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Focus on </a:t>
            </a:r>
            <a:r>
              <a:rPr lang="en-US" sz="1700" i="1" dirty="0"/>
              <a:t>Vodka</a:t>
            </a:r>
            <a:r>
              <a:rPr lang="en-US" sz="1700" dirty="0"/>
              <a:t>, </a:t>
            </a:r>
            <a:r>
              <a:rPr lang="en-US" sz="1700" i="1" dirty="0"/>
              <a:t>Canadian Whiskies</a:t>
            </a:r>
            <a:r>
              <a:rPr lang="en-US" sz="1700" dirty="0"/>
              <a:t>, and </a:t>
            </a:r>
            <a:r>
              <a:rPr lang="en-US" sz="1700" i="1" dirty="0"/>
              <a:t>Imported Vodka</a:t>
            </a:r>
            <a:r>
              <a:rPr lang="en-US" sz="1700" dirty="0"/>
              <a:t> — they dominate both statewide and store-level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Tequila is a regional outperformer — tailor online assortment by 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Prioritize stores in Des Moines, Iowa City, and Clinton as delivery hubs is based on their strong sales volumes </a:t>
            </a:r>
          </a:p>
          <a:p>
            <a:r>
              <a:rPr lang="en-US" sz="1700" dirty="0"/>
              <a:t>     seen in the underlying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/>
              <a:t>Skip broad-but-weak categories like </a:t>
            </a:r>
            <a:r>
              <a:rPr lang="en-US" sz="1700" i="1" dirty="0"/>
              <a:t>Spiced Rum</a:t>
            </a:r>
            <a:r>
              <a:rPr lang="en-US" sz="1700" dirty="0"/>
              <a:t> in delivery. Prioritize fast movers with high margins.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8088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8092-171A-723A-9AA7-675FAD17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0" i="0" dirty="0">
                <a:effectLst/>
                <a:latin typeface="+mn-lt"/>
              </a:rPr>
              <a:t>Geographic Gaps</a:t>
            </a:r>
            <a:br>
              <a:rPr lang="en-IN" b="0" i="0" dirty="0">
                <a:effectLst/>
                <a:latin typeface="fkGrotesk"/>
              </a:rPr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BF1A85-E19F-04A7-6AAD-BD0D37D9A5E0}"/>
              </a:ext>
            </a:extLst>
          </p:cNvPr>
          <p:cNvSpPr txBox="1"/>
          <p:nvPr/>
        </p:nvSpPr>
        <p:spPr>
          <a:xfrm>
            <a:off x="838200" y="2239214"/>
            <a:ext cx="4544008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 Some high-demand areas remain underserved, signaling strong potential for new delivery centers.</a:t>
            </a:r>
          </a:p>
          <a:p>
            <a:pPr algn="l"/>
            <a:endParaRPr lang="en-US" sz="1700" b="0" i="0" dirty="0"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700" b="0" i="0" dirty="0">
                <a:effectLst/>
              </a:rPr>
              <a:t> Recommend establishing a new delivery center in the state of Illinois, subject to further analysis of customer locations and competitor presence.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77401-79EB-72E5-5B8A-950E4281B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679" y="1733795"/>
            <a:ext cx="5546409" cy="387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0997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187</TotalTime>
  <Words>684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Arial</vt:lpstr>
      <vt:lpstr>fkGrotesk</vt:lpstr>
      <vt:lpstr>fkGroteskNeue</vt:lpstr>
      <vt:lpstr>Rockwell</vt:lpstr>
      <vt:lpstr>Rockwell Condensed</vt:lpstr>
      <vt:lpstr>Wingdings</vt:lpstr>
      <vt:lpstr>Wood Type</vt:lpstr>
      <vt:lpstr>Top 10 Recommended Locations for  Launching Iowa Spirits Online Delivery</vt:lpstr>
      <vt:lpstr>The Opportunity </vt:lpstr>
      <vt:lpstr>The Approach &amp; Assumptions </vt:lpstr>
      <vt:lpstr>High-Performing Clusters </vt:lpstr>
      <vt:lpstr> Top 10 recommended locations for Setting up out of an existing    store for online delivery business  </vt:lpstr>
      <vt:lpstr> Top 5 Liquor Sales in Iowa  </vt:lpstr>
      <vt:lpstr>Geographic Gaps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Rucha Belgali</dc:creator>
  <cp:lastModifiedBy>Rucha Belgali</cp:lastModifiedBy>
  <cp:revision>4</cp:revision>
  <dcterms:created xsi:type="dcterms:W3CDTF">2025-06-02T19:47:42Z</dcterms:created>
  <dcterms:modified xsi:type="dcterms:W3CDTF">2025-11-11T11:15:00Z</dcterms:modified>
</cp:coreProperties>
</file>